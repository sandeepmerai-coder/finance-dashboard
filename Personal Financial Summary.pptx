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0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Summary!$O$4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9-4906-ACDA-174BC423F3A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9-4906-ACDA-174BC423F3A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9-4906-ACDA-174BC423F3A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9-4906-ACDA-174BC423F3A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9-4906-ACDA-174BC423F3A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359-4906-ACDA-174BC423F3A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359-4906-ACDA-174BC423F3A2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5359-4906-ACDA-174BC423F3A2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5359-4906-ACDA-174BC423F3A2}"/>
              </c:ext>
            </c:extLst>
          </c:dPt>
          <c:cat>
            <c:strRef>
              <c:f>Summary!$N$5:$N$13</c:f>
              <c:strCache>
                <c:ptCount val="9"/>
                <c:pt idx="0">
                  <c:v>Cash &amp; Fixed Income</c:v>
                </c:pt>
                <c:pt idx="1">
                  <c:v>Equity - ISAs / LISA</c:v>
                </c:pt>
                <c:pt idx="2">
                  <c:v>Taxable Equity</c:v>
                </c:pt>
                <c:pt idx="3">
                  <c:v>Pensions</c:v>
                </c:pt>
                <c:pt idx="4">
                  <c:v>Children's Investments</c:v>
                </c:pt>
                <c:pt idx="5">
                  <c:v>Property / Real Estate</c:v>
                </c:pt>
                <c:pt idx="6">
                  <c:v>Alternatives / VCT / Private</c:v>
                </c:pt>
                <c:pt idx="7">
                  <c:v>Crypto</c:v>
                </c:pt>
                <c:pt idx="8">
                  <c:v>Other Assets</c:v>
                </c:pt>
              </c:strCache>
            </c:strRef>
          </c:cat>
          <c:val>
            <c:numRef>
              <c:f>Summary!$O$5:$O$13</c:f>
              <c:numCache>
                <c:formatCode>\£#,##0;[Red]\(\£#,##0\);\-</c:formatCode>
                <c:ptCount val="9"/>
                <c:pt idx="0">
                  <c:v>504112.74739130435</c:v>
                </c:pt>
                <c:pt idx="1">
                  <c:v>1481305.08</c:v>
                </c:pt>
                <c:pt idx="2">
                  <c:v>117183.00000000001</c:v>
                </c:pt>
                <c:pt idx="3">
                  <c:v>1574792.31</c:v>
                </c:pt>
                <c:pt idx="4">
                  <c:v>383810.37000000005</c:v>
                </c:pt>
                <c:pt idx="5">
                  <c:v>2454705</c:v>
                </c:pt>
                <c:pt idx="6">
                  <c:v>75232.800000000003</c:v>
                </c:pt>
                <c:pt idx="7">
                  <c:v>24183.833333333336</c:v>
                </c:pt>
                <c:pt idx="8">
                  <c:v>19650.79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3-4B59-9F48-2F129363F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Summary!$K$23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Summary!$J$24:$J$31</c:f>
              <c:strCache>
                <c:ptCount val="8"/>
                <c:pt idx="0">
                  <c:v>Equity incl. ISAs / LISA</c:v>
                </c:pt>
                <c:pt idx="1">
                  <c:v>Cash</c:v>
                </c:pt>
                <c:pt idx="2">
                  <c:v>Property / Real Estate</c:v>
                </c:pt>
                <c:pt idx="3">
                  <c:v>Alts / Private</c:v>
                </c:pt>
                <c:pt idx="4">
                  <c:v>Crypto</c:v>
                </c:pt>
                <c:pt idx="5">
                  <c:v>Children's Assets</c:v>
                </c:pt>
                <c:pt idx="6">
                  <c:v>Other</c:v>
                </c:pt>
                <c:pt idx="7">
                  <c:v>Pensions</c:v>
                </c:pt>
              </c:strCache>
            </c:strRef>
          </c:cat>
          <c:val>
            <c:numRef>
              <c:f>Summary!$K$24:$K$31</c:f>
              <c:numCache>
                <c:formatCode>\£#,##0;[Red]\(\£#,##0\);\-</c:formatCode>
                <c:ptCount val="8"/>
                <c:pt idx="0">
                  <c:v>1598488.08</c:v>
                </c:pt>
                <c:pt idx="1">
                  <c:v>504112.74739130435</c:v>
                </c:pt>
                <c:pt idx="2">
                  <c:v>1129705</c:v>
                </c:pt>
                <c:pt idx="3">
                  <c:v>75232.800000000003</c:v>
                </c:pt>
                <c:pt idx="4">
                  <c:v>24183.833333333336</c:v>
                </c:pt>
                <c:pt idx="5">
                  <c:v>383810.37000000005</c:v>
                </c:pt>
                <c:pt idx="6">
                  <c:v>19650.79</c:v>
                </c:pt>
                <c:pt idx="7">
                  <c:v>1574792.31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0-404E-9F17-94C85667C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149472"/>
        <c:axId val="103152352"/>
      </c:barChart>
      <c:catAx>
        <c:axId val="103149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52352"/>
        <c:crosses val="autoZero"/>
        <c:auto val="1"/>
        <c:lblAlgn val="ctr"/>
        <c:lblOffset val="100"/>
        <c:noMultiLvlLbl val="0"/>
      </c:catAx>
      <c:valAx>
        <c:axId val="103152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£#,##0;[Red]\(\£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49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Summary!$K$11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Summary!$J$12:$J$20</c:f>
              <c:strCache>
                <c:ptCount val="9"/>
                <c:pt idx="0">
                  <c:v>Cash &amp; Fixed Income</c:v>
                </c:pt>
                <c:pt idx="1">
                  <c:v>Equity - ISAs / LISA</c:v>
                </c:pt>
                <c:pt idx="2">
                  <c:v>Taxable Equity</c:v>
                </c:pt>
                <c:pt idx="3">
                  <c:v>Pensions</c:v>
                </c:pt>
                <c:pt idx="4">
                  <c:v>Children's Investments</c:v>
                </c:pt>
                <c:pt idx="5">
                  <c:v>Property / Real Estate</c:v>
                </c:pt>
                <c:pt idx="6">
                  <c:v>Alternatives / VCT / Private</c:v>
                </c:pt>
                <c:pt idx="7">
                  <c:v>Crypto</c:v>
                </c:pt>
                <c:pt idx="8">
                  <c:v>Other Assets</c:v>
                </c:pt>
              </c:strCache>
            </c:strRef>
          </c:cat>
          <c:val>
            <c:numRef>
              <c:f>Summary!$K$12:$K$20</c:f>
              <c:numCache>
                <c:formatCode>\£#,##0;[Red]\(\£#,##0\);\-</c:formatCode>
                <c:ptCount val="9"/>
                <c:pt idx="0">
                  <c:v>504112.74739130435</c:v>
                </c:pt>
                <c:pt idx="1">
                  <c:v>1481305.08</c:v>
                </c:pt>
                <c:pt idx="2">
                  <c:v>117183.00000000001</c:v>
                </c:pt>
                <c:pt idx="3">
                  <c:v>1574792.31</c:v>
                </c:pt>
                <c:pt idx="4">
                  <c:v>383810.37000000005</c:v>
                </c:pt>
                <c:pt idx="5">
                  <c:v>2454705</c:v>
                </c:pt>
                <c:pt idx="6">
                  <c:v>75232.800000000003</c:v>
                </c:pt>
                <c:pt idx="7">
                  <c:v>24183.833333333336</c:v>
                </c:pt>
                <c:pt idx="8">
                  <c:v>19650.79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CE-4BF5-9D42-F30F3AF6EA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161472"/>
        <c:axId val="103164832"/>
      </c:barChart>
      <c:catAx>
        <c:axId val="1031614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64832"/>
        <c:crosses val="autoZero"/>
        <c:auto val="1"/>
        <c:lblAlgn val="ctr"/>
        <c:lblOffset val="100"/>
        <c:noMultiLvlLbl val="0"/>
      </c:catAx>
      <c:valAx>
        <c:axId val="103164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£#,##0;[Red]\(\£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6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86069134559622"/>
          <c:y val="0.14696024596420829"/>
          <c:w val="0.88713930865440382"/>
          <c:h val="0.834090697943543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Summary!$O$16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Summary!$N$17:$N$19</c:f>
              <c:strCache>
                <c:ptCount val="3"/>
                <c:pt idx="0">
                  <c:v>Gross Assets</c:v>
                </c:pt>
                <c:pt idx="1">
                  <c:v>Debts</c:v>
                </c:pt>
                <c:pt idx="2">
                  <c:v>Net Worth</c:v>
                </c:pt>
              </c:strCache>
            </c:strRef>
          </c:cat>
          <c:val>
            <c:numRef>
              <c:f>Summary!$O$17:$O$19</c:f>
              <c:numCache>
                <c:formatCode>\£#,##0;[Red]\(\£#,##0\);\-</c:formatCode>
                <c:ptCount val="3"/>
                <c:pt idx="0">
                  <c:v>6634975.9307246376</c:v>
                </c:pt>
                <c:pt idx="1">
                  <c:v>-746161.76</c:v>
                </c:pt>
                <c:pt idx="2">
                  <c:v>5888814.1707246378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7-4A3B-9366-A370F92458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151392"/>
        <c:axId val="103162432"/>
      </c:barChart>
      <c:catAx>
        <c:axId val="10315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62432"/>
        <c:crosses val="autoZero"/>
        <c:auto val="1"/>
        <c:lblAlgn val="ctr"/>
        <c:lblOffset val="100"/>
        <c:noMultiLvlLbl val="0"/>
      </c:catAx>
      <c:valAx>
        <c:axId val="10316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£#,##0;[Red]\(\£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5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0899-C03A-0ECB-16F1-236A122EE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99981-00AF-7134-C86B-A57B63DD6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2DC80-03D5-A7C9-1C42-4A18A700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25857-7D3C-E47C-8B66-3D5F8A4B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97FD-46D1-8826-B09E-60B9DE50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46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EE29-5BCD-1FB9-81F4-9079C955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D942-2DC1-19CB-C8A9-A044BA69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27105-58E6-0546-4F49-00EFD832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98B5C-BC5D-BB53-94AA-4D6700C1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1CF54-D848-57FD-CCB6-002E0AC6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14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850B-43E3-A08D-0CC2-B9608D03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797ED-0009-B5C2-160A-D2924D689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6CBDB-E83C-733B-4489-A1AC6AD0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BB42-7167-B523-379D-AB57566E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47976-E5C2-9389-52EA-5B3D8711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09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0E94-685D-481D-F9D5-9340E365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A6AF8-D160-FC2B-0A14-00DB1043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E3478-CBA9-4A8F-1DB6-74DFD8B74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EA50C-A339-23B4-0B7D-7CD01BB5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FDE6B-67B8-00B0-9335-3611C172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F8B03-F8E8-5055-9386-937C3FB2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430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12E7-5304-812E-E050-2B72129E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E0917-7629-BAB4-EBBE-E5ADC414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1A1C9-86A5-4DB1-E1D6-E98F1CDB8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B5C98-CD7C-417A-4D5A-401FF6502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54B28-1081-510E-2C50-BCD27F7E2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9A3B2-7BF3-97BF-374E-06BAEBFD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EB554-3ACA-F6C3-AE62-15A04085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78C34-DD50-0581-81D6-E0A73646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69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E9A4-8632-DF54-2E7B-2CC14779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AE2E0-D924-9C2F-8D07-4743EAA0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2E56D-B1A9-1624-91EF-43FA0071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20C8F-44F7-8541-733C-07BFBA26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09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88AAC-E363-CE6D-BA2A-E1501165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380F4-2E84-B520-EC4C-0F3E9ED4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79CEB-5613-6C78-B4EE-78E2B914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40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9365-EDE8-A0DE-8854-FF02A424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C8FD-06AC-3FC7-5403-C7E393588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3BD62-8C2B-E7FE-9BA6-49D5194FF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9A3B8-F866-C1A5-BAFF-24D3CB23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9C528-7F26-8A9F-C205-A79854A5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95BF3-802F-3B6B-B74B-DD617AC7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86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2DD7-4433-289D-A959-F77B087C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59277-CC98-9E70-51EA-9FAF62E8A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EA82-7B0D-17F5-5B0F-B94DC39D3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51346-F433-4FC8-8CB3-45F07398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31ECA-3AB7-F70F-32C2-51F5AC4E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22C78-D5DB-4DD8-BA14-1BA82DD9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8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BD01-0687-CEB6-B48D-58EEF49B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8B4D5-819D-9FE6-9DFF-00D5A938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210D1-929E-C9CD-6DBA-08ED4965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9E3B3-2530-DCF1-3E9F-8AE217B0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0BC3-6ED1-06D2-168C-913D3441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26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C9FBE-67BD-CDDD-3EFD-791F4FE29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FCCA7-B712-3AC6-8FDA-CDE578DD8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D0233-6366-7157-19A4-CC41EC96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695A-AF73-5DB6-0E72-2435EF1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11E83-8D79-46EC-D2B3-D488028D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9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4EFCD-3AE0-FE6D-6FC3-41EEA021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B29F-2262-C2D6-7F2A-35C34B7F1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C5D5-C3DF-CD94-B076-91059D1B5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F7AF3-29A9-4DE3-8D0D-044F6EE4D0D2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70C0F-90EA-F8AD-C352-6BA039DFB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EF70A-C032-ABC7-0790-BA4D2344C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BD18C-DFF0-414F-AB04-62FC55BA7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52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AE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2391-FD77-999B-1674-B54424935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Personal Financial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29729-37D9-8019-C35A-7899DECE9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As of 8th May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35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A42F6-3403-42D4-A29B-659E48258C47}"/>
              </a:ext>
            </a:extLst>
          </p:cNvPr>
          <p:cNvSpPr txBox="1"/>
          <p:nvPr/>
        </p:nvSpPr>
        <p:spPr>
          <a:xfrm>
            <a:off x="609600" y="4572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200" b="1">
                <a:solidFill>
                  <a:srgbClr val="FFFFFF"/>
                </a:solidFill>
              </a:rPr>
              <a:t>Key Financial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3468F-918E-4260-98D3-0E8708E105D0}"/>
              </a:ext>
            </a:extLst>
          </p:cNvPr>
          <p:cNvSpPr/>
          <p:nvPr/>
        </p:nvSpPr>
        <p:spPr>
          <a:xfrm>
            <a:off x="609600" y="1168400"/>
            <a:ext cx="1016000" cy="381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E62B48-03A1-4F1D-922C-33D780CF5ADF}"/>
              </a:ext>
            </a:extLst>
          </p:cNvPr>
          <p:cNvSpPr/>
          <p:nvPr/>
        </p:nvSpPr>
        <p:spPr>
          <a:xfrm>
            <a:off x="711200" y="2032000"/>
            <a:ext cx="2540000" cy="2032000"/>
          </a:xfrm>
          <a:prstGeom prst="roundRect">
            <a:avLst/>
          </a:prstGeom>
          <a:solidFill>
            <a:srgbClr val="2A31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DEA5F-8B2A-4038-BC4A-D8E1DF4E4CA4}"/>
              </a:ext>
            </a:extLst>
          </p:cNvPr>
          <p:cNvSpPr/>
          <p:nvPr/>
        </p:nvSpPr>
        <p:spPr>
          <a:xfrm>
            <a:off x="711200" y="2032000"/>
            <a:ext cx="2540000" cy="508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FAF89-1953-400C-A6E2-307BAA34E2EF}"/>
              </a:ext>
            </a:extLst>
          </p:cNvPr>
          <p:cNvSpPr txBox="1"/>
          <p:nvPr/>
        </p:nvSpPr>
        <p:spPr>
          <a:xfrm>
            <a:off x="914400" y="2336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B8BFCC"/>
                </a:solidFill>
              </a:rPr>
              <a:t>Net Worth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ABA60-37BB-41E2-A5E0-68A8DCA64243}"/>
              </a:ext>
            </a:extLst>
          </p:cNvPr>
          <p:cNvSpPr txBox="1"/>
          <p:nvPr/>
        </p:nvSpPr>
        <p:spPr>
          <a:xfrm>
            <a:off x="863600" y="2844800"/>
            <a:ext cx="2235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4DB6AC"/>
                </a:solidFill>
              </a:rPr>
              <a:t>£5,888,814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606F04-9583-4E3B-BA33-FF5615716B46}"/>
              </a:ext>
            </a:extLst>
          </p:cNvPr>
          <p:cNvSpPr/>
          <p:nvPr/>
        </p:nvSpPr>
        <p:spPr>
          <a:xfrm>
            <a:off x="3454400" y="2032000"/>
            <a:ext cx="2540000" cy="2032000"/>
          </a:xfrm>
          <a:prstGeom prst="roundRect">
            <a:avLst/>
          </a:prstGeom>
          <a:solidFill>
            <a:srgbClr val="2A31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F9C70-C9C3-4A29-B338-C16E6875940D}"/>
              </a:ext>
            </a:extLst>
          </p:cNvPr>
          <p:cNvSpPr/>
          <p:nvPr/>
        </p:nvSpPr>
        <p:spPr>
          <a:xfrm>
            <a:off x="3454400" y="2032000"/>
            <a:ext cx="2540000" cy="50800"/>
          </a:xfrm>
          <a:prstGeom prst="rect">
            <a:avLst/>
          </a:prstGeom>
          <a:solidFill>
            <a:srgbClr val="7986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8C792-4DAF-47E7-A0D2-0938115B6AD8}"/>
              </a:ext>
            </a:extLst>
          </p:cNvPr>
          <p:cNvSpPr txBox="1"/>
          <p:nvPr/>
        </p:nvSpPr>
        <p:spPr>
          <a:xfrm>
            <a:off x="3657600" y="2336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B8BFCC"/>
                </a:solidFill>
              </a:rPr>
              <a:t>Gross Assets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03C96-5EC2-4011-8888-96CE7DF8F5B4}"/>
              </a:ext>
            </a:extLst>
          </p:cNvPr>
          <p:cNvSpPr txBox="1"/>
          <p:nvPr/>
        </p:nvSpPr>
        <p:spPr>
          <a:xfrm>
            <a:off x="3606800" y="2844800"/>
            <a:ext cx="2235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7986CB"/>
                </a:solidFill>
              </a:rPr>
              <a:t>£6,634,976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4B6D76-DBCA-46C4-B31F-D3BCB9B6F2E1}"/>
              </a:ext>
            </a:extLst>
          </p:cNvPr>
          <p:cNvSpPr/>
          <p:nvPr/>
        </p:nvSpPr>
        <p:spPr>
          <a:xfrm>
            <a:off x="6197600" y="2032000"/>
            <a:ext cx="2540000" cy="2032000"/>
          </a:xfrm>
          <a:prstGeom prst="roundRect">
            <a:avLst/>
          </a:prstGeom>
          <a:solidFill>
            <a:srgbClr val="2A31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4B1E9B-B493-42EC-B17C-5C42AA7BB8B4}"/>
              </a:ext>
            </a:extLst>
          </p:cNvPr>
          <p:cNvSpPr/>
          <p:nvPr/>
        </p:nvSpPr>
        <p:spPr>
          <a:xfrm>
            <a:off x="6197600" y="2032000"/>
            <a:ext cx="2540000" cy="50800"/>
          </a:xfrm>
          <a:prstGeom prst="rect">
            <a:avLst/>
          </a:prstGeom>
          <a:solidFill>
            <a:srgbClr val="F0629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5DC6E1-EE24-46FF-9214-20F1718EAF9F}"/>
              </a:ext>
            </a:extLst>
          </p:cNvPr>
          <p:cNvSpPr txBox="1"/>
          <p:nvPr/>
        </p:nvSpPr>
        <p:spPr>
          <a:xfrm>
            <a:off x="6400800" y="2336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B8BFCC"/>
                </a:solidFill>
              </a:rPr>
              <a:t>Total Debts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3AD7E-9293-4907-853E-B9B6AFC4CA66}"/>
              </a:ext>
            </a:extLst>
          </p:cNvPr>
          <p:cNvSpPr txBox="1"/>
          <p:nvPr/>
        </p:nvSpPr>
        <p:spPr>
          <a:xfrm>
            <a:off x="6350000" y="2844800"/>
            <a:ext cx="2235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F06292"/>
                </a:solidFill>
              </a:rPr>
              <a:t>£746,162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418219-8AED-462A-BB6D-5080C80750EB}"/>
              </a:ext>
            </a:extLst>
          </p:cNvPr>
          <p:cNvSpPr/>
          <p:nvPr/>
        </p:nvSpPr>
        <p:spPr>
          <a:xfrm>
            <a:off x="8940800" y="2032000"/>
            <a:ext cx="2540000" cy="2032000"/>
          </a:xfrm>
          <a:prstGeom prst="roundRect">
            <a:avLst/>
          </a:prstGeom>
          <a:solidFill>
            <a:srgbClr val="2A314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CF90EB-F255-4930-AF7F-04C77D636188}"/>
              </a:ext>
            </a:extLst>
          </p:cNvPr>
          <p:cNvSpPr/>
          <p:nvPr/>
        </p:nvSpPr>
        <p:spPr>
          <a:xfrm>
            <a:off x="8940800" y="2032000"/>
            <a:ext cx="2540000" cy="50800"/>
          </a:xfrm>
          <a:prstGeom prst="rect">
            <a:avLst/>
          </a:prstGeom>
          <a:solidFill>
            <a:srgbClr val="AED5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5F351B-B9E9-44EA-9716-884506214AAE}"/>
              </a:ext>
            </a:extLst>
          </p:cNvPr>
          <p:cNvSpPr txBox="1"/>
          <p:nvPr/>
        </p:nvSpPr>
        <p:spPr>
          <a:xfrm>
            <a:off x="9144000" y="23368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B8BFCC"/>
                </a:solidFill>
              </a:rPr>
              <a:t>Investable Assets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0B135-5492-4BCC-985C-CA1537F45891}"/>
              </a:ext>
            </a:extLst>
          </p:cNvPr>
          <p:cNvSpPr txBox="1"/>
          <p:nvPr/>
        </p:nvSpPr>
        <p:spPr>
          <a:xfrm>
            <a:off x="9093200" y="2844800"/>
            <a:ext cx="2235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AED581"/>
                </a:solidFill>
              </a:rPr>
              <a:t>£3,991,996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2999B-3AFC-4ABD-8DB4-DD7B51D29341}"/>
              </a:ext>
            </a:extLst>
          </p:cNvPr>
          <p:cNvSpPr txBox="1"/>
          <p:nvPr/>
        </p:nvSpPr>
        <p:spPr>
          <a:xfrm>
            <a:off x="609600" y="5969000"/>
            <a:ext cx="10972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8BFCC"/>
                </a:solidFill>
              </a:rPr>
              <a:t>All figures as of 8 May 2026</a:t>
            </a:r>
            <a:endParaRPr lang="en-GB" sz="1400" i="1">
              <a:solidFill>
                <a:srgbClr val="B8BF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096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75513-200D-41F6-ACDC-199DC43BE528}"/>
              </a:ext>
            </a:extLst>
          </p:cNvPr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Gross Assets by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72E5F-964A-4F69-AB60-1FBA5D65754A}"/>
              </a:ext>
            </a:extLst>
          </p:cNvPr>
          <p:cNvSpPr/>
          <p:nvPr/>
        </p:nvSpPr>
        <p:spPr>
          <a:xfrm>
            <a:off x="609600" y="990600"/>
            <a:ext cx="762000" cy="381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206500"/>
          <a:ext cx="1066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571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C28D2-34C6-42FB-B1FC-393AC17340F2}"/>
              </a:ext>
            </a:extLst>
          </p:cNvPr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Investable Assets Allocation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D0993-EDA7-4092-845F-0879859642E7}"/>
              </a:ext>
            </a:extLst>
          </p:cNvPr>
          <p:cNvSpPr/>
          <p:nvPr/>
        </p:nvSpPr>
        <p:spPr>
          <a:xfrm>
            <a:off x="609600" y="990600"/>
            <a:ext cx="762000" cy="381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206500"/>
          <a:ext cx="1066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243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2F55F-F084-4C20-8E8B-CE28EAD7644D}"/>
              </a:ext>
            </a:extLst>
          </p:cNvPr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800" b="1">
                <a:solidFill>
                  <a:srgbClr val="FFFFFF"/>
                </a:solidFill>
              </a:rPr>
              <a:t>Gross Asset Ranking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A5DA3-2854-47E7-85D6-3034F0F66E7E}"/>
              </a:ext>
            </a:extLst>
          </p:cNvPr>
          <p:cNvSpPr/>
          <p:nvPr/>
        </p:nvSpPr>
        <p:spPr>
          <a:xfrm>
            <a:off x="609600" y="990600"/>
            <a:ext cx="762000" cy="381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206500"/>
          <a:ext cx="1066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97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24D9C-A2AC-4D1B-A00C-3DC286660CFC}"/>
              </a:ext>
            </a:extLst>
          </p:cNvPr>
          <p:cNvSpPr txBox="1"/>
          <p:nvPr/>
        </p:nvSpPr>
        <p:spPr>
          <a:xfrm>
            <a:off x="609600" y="355600"/>
            <a:ext cx="10972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</a:rPr>
              <a:t>Gross Assets to Net Worth</a:t>
            </a:r>
            <a:endParaRPr lang="en-GB" sz="2800" b="1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FD9E94-38F9-4961-9A4F-7ABF011950BF}"/>
              </a:ext>
            </a:extLst>
          </p:cNvPr>
          <p:cNvSpPr/>
          <p:nvPr/>
        </p:nvSpPr>
        <p:spPr>
          <a:xfrm>
            <a:off x="609600" y="990600"/>
            <a:ext cx="762000" cy="38100"/>
          </a:xfrm>
          <a:prstGeom prst="rect">
            <a:avLst/>
          </a:prstGeom>
          <a:solidFill>
            <a:srgbClr val="4DB6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graphicFrame>
        <p:nvGraphicFramePr>
          <p:cNvPr id="201" name="Chart 1"/>
          <p:cNvGraphicFramePr/>
          <p:nvPr/>
        </p:nvGraphicFramePr>
        <p:xfrm>
          <a:off x="762000" y="1206500"/>
          <a:ext cx="1066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7281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425994952]">
  <a:themeElements>
    <a:clrScheme name="Office">
      <a:dk1>
        <a:srgbClr val="E8EAED"/>
      </a:dk1>
      <a:lt1>
        <a:srgbClr val="1A1F2B"/>
      </a:lt1>
      <a:dk2>
        <a:srgbClr val="B8BFCC"/>
      </a:dk2>
      <a:lt2>
        <a:srgbClr val="2A3142"/>
      </a:lt2>
      <a:accent1>
        <a:srgbClr val="4DB6AC"/>
      </a:accent1>
      <a:accent2>
        <a:srgbClr val="7986CB"/>
      </a:accent2>
      <a:accent3>
        <a:srgbClr val="FFB74D"/>
      </a:accent3>
      <a:accent4>
        <a:srgbClr val="F06292"/>
      </a:accent4>
      <a:accent5>
        <a:srgbClr val="AED581"/>
      </a:accent5>
      <a:accent6>
        <a:srgbClr val="BA68C8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E54B68-8A47-4B28-9D4E-80E20DF2D79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68afb9b-5dcb-4401-868c-28cf913f53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Montserrat</vt:lpstr>
      <vt:lpstr>Open Sans</vt:lpstr>
      <vt:lpstr>Office Theme [1778425994952]</vt:lpstr>
      <vt:lpstr>Personal Financial Summary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Merai</dc:creator>
  <cp:lastModifiedBy>Sandeep Merai</cp:lastModifiedBy>
  <cp:revision>3</cp:revision>
  <dcterms:created xsi:type="dcterms:W3CDTF">2026-05-10T15:12:47Z</dcterms:created>
  <dcterms:modified xsi:type="dcterms:W3CDTF">2026-05-10T15:22:41Z</dcterms:modified>
</cp:coreProperties>
</file>